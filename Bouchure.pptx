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65" r:id="rId3"/>
    <p:sldId id="266" r:id="rId4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F50"/>
    <a:srgbClr val="868686"/>
    <a:srgbClr val="B0B0B0"/>
    <a:srgbClr val="B2B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Estilo medio 4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0" d="100"/>
          <a:sy n="60" d="100"/>
        </p:scale>
        <p:origin x="1340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84E99-AEA6-4510-8DA5-62003C3CBE81}" type="datetimeFigureOut">
              <a:rPr lang="es-CO" smtClean="0"/>
              <a:t>1/05/2022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11DB6-DCF8-48F8-8D3A-B0976E6A3F4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97092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84E99-AEA6-4510-8DA5-62003C3CBE81}" type="datetimeFigureOut">
              <a:rPr lang="es-CO" smtClean="0"/>
              <a:t>1/05/2022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11DB6-DCF8-48F8-8D3A-B0976E6A3F4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12112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84E99-AEA6-4510-8DA5-62003C3CBE81}" type="datetimeFigureOut">
              <a:rPr lang="es-CO" smtClean="0"/>
              <a:t>1/05/2022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11DB6-DCF8-48F8-8D3A-B0976E6A3F4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81513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84E99-AEA6-4510-8DA5-62003C3CBE81}" type="datetimeFigureOut">
              <a:rPr lang="es-CO" smtClean="0"/>
              <a:t>1/05/2022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11DB6-DCF8-48F8-8D3A-B0976E6A3F4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3271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84E99-AEA6-4510-8DA5-62003C3CBE81}" type="datetimeFigureOut">
              <a:rPr lang="es-CO" smtClean="0"/>
              <a:t>1/05/2022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11DB6-DCF8-48F8-8D3A-B0976E6A3F4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5373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84E99-AEA6-4510-8DA5-62003C3CBE81}" type="datetimeFigureOut">
              <a:rPr lang="es-CO" smtClean="0"/>
              <a:t>1/05/2022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11DB6-DCF8-48F8-8D3A-B0976E6A3F4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12964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84E99-AEA6-4510-8DA5-62003C3CBE81}" type="datetimeFigureOut">
              <a:rPr lang="es-CO" smtClean="0"/>
              <a:t>1/05/2022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11DB6-DCF8-48F8-8D3A-B0976E6A3F4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80193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84E99-AEA6-4510-8DA5-62003C3CBE81}" type="datetimeFigureOut">
              <a:rPr lang="es-CO" smtClean="0"/>
              <a:t>1/05/2022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11DB6-DCF8-48F8-8D3A-B0976E6A3F4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03576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84E99-AEA6-4510-8DA5-62003C3CBE81}" type="datetimeFigureOut">
              <a:rPr lang="es-CO" smtClean="0"/>
              <a:t>1/05/2022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11DB6-DCF8-48F8-8D3A-B0976E6A3F4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23274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84E99-AEA6-4510-8DA5-62003C3CBE81}" type="datetimeFigureOut">
              <a:rPr lang="es-CO" smtClean="0"/>
              <a:t>1/05/2022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11DB6-DCF8-48F8-8D3A-B0976E6A3F4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06672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84E99-AEA6-4510-8DA5-62003C3CBE81}" type="datetimeFigureOut">
              <a:rPr lang="es-CO" smtClean="0"/>
              <a:t>1/05/2022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11DB6-DCF8-48F8-8D3A-B0976E6A3F4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04022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384E99-AEA6-4510-8DA5-62003C3CBE81}" type="datetimeFigureOut">
              <a:rPr lang="es-CO" smtClean="0"/>
              <a:t>1/05/2022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711DB6-DCF8-48F8-8D3A-B0976E6A3F4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45397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93876338-B7ED-0D22-FD2A-A5A8455195E8}"/>
              </a:ext>
            </a:extLst>
          </p:cNvPr>
          <p:cNvSpPr/>
          <p:nvPr/>
        </p:nvSpPr>
        <p:spPr>
          <a:xfrm>
            <a:off x="0" y="0"/>
            <a:ext cx="3312000" cy="6858000"/>
          </a:xfrm>
          <a:prstGeom prst="rect">
            <a:avLst/>
          </a:prstGeom>
          <a:gradFill flip="none" rotWithShape="1">
            <a:gsLst>
              <a:gs pos="11000">
                <a:schemeClr val="bg1">
                  <a:lumMod val="85000"/>
                </a:schemeClr>
              </a:gs>
              <a:gs pos="7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52166A7-CAA8-987E-5B9E-D2BF434CD83D}"/>
              </a:ext>
            </a:extLst>
          </p:cNvPr>
          <p:cNvSpPr/>
          <p:nvPr/>
        </p:nvSpPr>
        <p:spPr>
          <a:xfrm>
            <a:off x="3312000" y="0"/>
            <a:ext cx="3282000" cy="6858000"/>
          </a:xfrm>
          <a:prstGeom prst="rect">
            <a:avLst/>
          </a:prstGeom>
          <a:gradFill flip="none" rotWithShape="1">
            <a:gsLst>
              <a:gs pos="39000">
                <a:schemeClr val="accent1">
                  <a:lumMod val="45000"/>
                  <a:lumOff val="55000"/>
                </a:schemeClr>
              </a:gs>
              <a:gs pos="100000">
                <a:schemeClr val="bg2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6A50DE7-5EAE-4BE8-C373-79236E81A7D2}"/>
              </a:ext>
            </a:extLst>
          </p:cNvPr>
          <p:cNvSpPr/>
          <p:nvPr/>
        </p:nvSpPr>
        <p:spPr>
          <a:xfrm>
            <a:off x="6593996" y="0"/>
            <a:ext cx="3312003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9" name="Flecha: pentágono 8">
            <a:extLst>
              <a:ext uri="{FF2B5EF4-FFF2-40B4-BE49-F238E27FC236}">
                <a16:creationId xmlns:a16="http://schemas.microsoft.com/office/drawing/2014/main" id="{8F359A77-1D5A-4A4A-EA13-8A50AAA9505E}"/>
              </a:ext>
            </a:extLst>
          </p:cNvPr>
          <p:cNvSpPr/>
          <p:nvPr/>
        </p:nvSpPr>
        <p:spPr>
          <a:xfrm rot="5400000">
            <a:off x="1885138" y="-1882735"/>
            <a:ext cx="2826124" cy="6591600"/>
          </a:xfrm>
          <a:prstGeom prst="homePlate">
            <a:avLst/>
          </a:prstGeom>
          <a:solidFill>
            <a:srgbClr val="B2B2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B4E6291-1449-CA0B-E664-C9E2372FFE42}"/>
              </a:ext>
            </a:extLst>
          </p:cNvPr>
          <p:cNvSpPr txBox="1"/>
          <p:nvPr/>
        </p:nvSpPr>
        <p:spPr>
          <a:xfrm>
            <a:off x="198044" y="3158906"/>
            <a:ext cx="291764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b="1" dirty="0">
                <a:solidFill>
                  <a:srgbClr val="333F50"/>
                </a:solidFill>
                <a:latin typeface="Century Gothic" panose="020B0502020202020204" pitchFamily="34" charset="0"/>
              </a:rPr>
              <a:t>Photic Measuring Airboat V1.0 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72F06146-3398-73D6-03A3-65A17D798865}"/>
              </a:ext>
            </a:extLst>
          </p:cNvPr>
          <p:cNvSpPr txBox="1"/>
          <p:nvPr/>
        </p:nvSpPr>
        <p:spPr>
          <a:xfrm>
            <a:off x="80796" y="6416226"/>
            <a:ext cx="28069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b="1" dirty="0">
                <a:solidFill>
                  <a:srgbClr val="333F50"/>
                </a:solidFill>
                <a:latin typeface="Century Gothic" panose="020B0502020202020204" pitchFamily="34" charset="0"/>
              </a:rPr>
              <a:t>DMR-103 2022-1</a:t>
            </a:r>
            <a:endParaRPr lang="es-CO" sz="2400" b="1" dirty="0">
              <a:solidFill>
                <a:srgbClr val="333F50"/>
              </a:solidFill>
              <a:latin typeface="Century Gothic" panose="020B0502020202020204" pitchFamily="34" charset="0"/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F856D4F6-3A6A-1F5C-08AD-ACF4BEC33DD3}"/>
              </a:ext>
            </a:extLst>
          </p:cNvPr>
          <p:cNvSpPr txBox="1"/>
          <p:nvPr/>
        </p:nvSpPr>
        <p:spPr>
          <a:xfrm>
            <a:off x="80111" y="5891370"/>
            <a:ext cx="18721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b="1" dirty="0">
                <a:solidFill>
                  <a:srgbClr val="333F50"/>
                </a:solidFill>
                <a:latin typeface="Century Gothic" panose="020B0502020202020204" pitchFamily="34" charset="0"/>
              </a:rPr>
              <a:t>ACUATRONICS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C5A9B699-B74C-2EB6-9A83-48FAA2F1CF7C}"/>
              </a:ext>
            </a:extLst>
          </p:cNvPr>
          <p:cNvSpPr txBox="1"/>
          <p:nvPr/>
        </p:nvSpPr>
        <p:spPr>
          <a:xfrm>
            <a:off x="3386347" y="2429601"/>
            <a:ext cx="3125202" cy="4380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s-ES" sz="1600" b="1" dirty="0">
                <a:solidFill>
                  <a:srgbClr val="333F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Para la limnología, definir el límite de zona fótica (zona de mayor porcentaje de absorción solar en el agua) es </a:t>
            </a:r>
            <a:r>
              <a:rPr lang="es-ES" sz="1600" b="1" dirty="0">
                <a:solidFill>
                  <a:srgbClr val="333F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importante el </a:t>
            </a:r>
            <a:r>
              <a:rPr lang="es-ES" sz="1600" b="1" dirty="0">
                <a:solidFill>
                  <a:srgbClr val="333F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uso del disco secchi, método manual que depende de la posición y visión del observador. </a:t>
            </a:r>
          </a:p>
          <a:p>
            <a:pPr>
              <a:spcAft>
                <a:spcPts val="800"/>
              </a:spcAft>
            </a:pPr>
            <a:r>
              <a:rPr lang="es-CO" sz="1600" b="1" dirty="0">
                <a:solidFill>
                  <a:srgbClr val="333F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Photic Measuring Airboat V1.0 es un dispositivo controlado remotamente por medio de una aplicación que permite la medición del límite de zona fótica y gradiente de temperatura por medios electrónicos, brindando confiabilidad en la adquisición y almacenamiento de datos en tiempo real. </a:t>
            </a:r>
            <a:endParaRPr lang="es-CO" sz="1600" b="1" dirty="0">
              <a:solidFill>
                <a:srgbClr val="333F50"/>
              </a:solidFill>
            </a:endParaRPr>
          </a:p>
        </p:txBody>
      </p:sp>
      <p:sp>
        <p:nvSpPr>
          <p:cNvPr id="35" name="Flecha: pentágono 34">
            <a:extLst>
              <a:ext uri="{FF2B5EF4-FFF2-40B4-BE49-F238E27FC236}">
                <a16:creationId xmlns:a16="http://schemas.microsoft.com/office/drawing/2014/main" id="{8A67BD82-BC3C-3B91-A33D-55AC16A01700}"/>
              </a:ext>
            </a:extLst>
          </p:cNvPr>
          <p:cNvSpPr/>
          <p:nvPr/>
        </p:nvSpPr>
        <p:spPr>
          <a:xfrm rot="5400000">
            <a:off x="2020935" y="-1351528"/>
            <a:ext cx="2554527" cy="5369093"/>
          </a:xfrm>
          <a:prstGeom prst="homePlate">
            <a:avLst/>
          </a:prstGeom>
          <a:blipFill dpi="0" rotWithShape="0">
            <a:blip r:embed="rId3"/>
            <a:srcRect/>
            <a:stretch>
              <a:fillRect l="15000" t="-46000" r="12000" b="-27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8D94B46F-7E35-CBCF-6C94-BAA4CC13DC33}"/>
              </a:ext>
            </a:extLst>
          </p:cNvPr>
          <p:cNvSpPr/>
          <p:nvPr/>
        </p:nvSpPr>
        <p:spPr>
          <a:xfrm>
            <a:off x="2712387" y="1666587"/>
            <a:ext cx="604325" cy="5201037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tx1">
                  <a:alpha val="23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5071798C-3986-093F-B1B1-66DA23BAF555}"/>
              </a:ext>
            </a:extLst>
          </p:cNvPr>
          <p:cNvSpPr/>
          <p:nvPr/>
        </p:nvSpPr>
        <p:spPr>
          <a:xfrm>
            <a:off x="1769228" y="5698503"/>
            <a:ext cx="787845" cy="724288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6" name="Triángulo rectángulo 35">
            <a:extLst>
              <a:ext uri="{FF2B5EF4-FFF2-40B4-BE49-F238E27FC236}">
                <a16:creationId xmlns:a16="http://schemas.microsoft.com/office/drawing/2014/main" id="{CC4FF4E2-CAB8-6A0C-62A0-D3E5C503537E}"/>
              </a:ext>
            </a:extLst>
          </p:cNvPr>
          <p:cNvSpPr/>
          <p:nvPr/>
        </p:nvSpPr>
        <p:spPr>
          <a:xfrm rot="16200000">
            <a:off x="7972264" y="4933888"/>
            <a:ext cx="543024" cy="3324448"/>
          </a:xfrm>
          <a:prstGeom prst="rtTriangle">
            <a:avLst/>
          </a:prstGeom>
          <a:solidFill>
            <a:srgbClr val="B2B2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9798E05B-A858-DFEB-2448-5F32ABB002D8}"/>
              </a:ext>
            </a:extLst>
          </p:cNvPr>
          <p:cNvSpPr/>
          <p:nvPr/>
        </p:nvSpPr>
        <p:spPr>
          <a:xfrm>
            <a:off x="6604770" y="9625"/>
            <a:ext cx="604325" cy="6857999"/>
          </a:xfrm>
          <a:prstGeom prst="rect">
            <a:avLst/>
          </a:prstGeom>
          <a:gradFill flip="none" rotWithShape="1">
            <a:gsLst>
              <a:gs pos="0">
                <a:srgbClr val="333F50">
                  <a:alpha val="0"/>
                </a:srgbClr>
              </a:gs>
              <a:gs pos="100000">
                <a:schemeClr val="tx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6DEFD59A-4ED4-FF64-AFBC-970F1E78B09E}"/>
              </a:ext>
            </a:extLst>
          </p:cNvPr>
          <p:cNvSpPr txBox="1"/>
          <p:nvPr/>
        </p:nvSpPr>
        <p:spPr>
          <a:xfrm>
            <a:off x="6604770" y="255800"/>
            <a:ext cx="33012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Capsula de sensado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7882E8A-BE41-23BD-42B5-320A786CD16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4864" b="15258"/>
          <a:stretch/>
        </p:blipFill>
        <p:spPr>
          <a:xfrm>
            <a:off x="7680724" y="697351"/>
            <a:ext cx="1120984" cy="11486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F411DAC1-ABD0-33BC-E411-8AC5194285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8308" y="4026202"/>
            <a:ext cx="1305815" cy="85235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543BB6FD-5335-D70D-0EF9-FE079C2247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69331" y="5303535"/>
            <a:ext cx="661205" cy="852359"/>
          </a:xfrm>
          <a:prstGeom prst="rect">
            <a:avLst/>
          </a:prstGeom>
        </p:spPr>
      </p:pic>
      <p:sp>
        <p:nvSpPr>
          <p:cNvPr id="39" name="CuadroTexto 38">
            <a:extLst>
              <a:ext uri="{FF2B5EF4-FFF2-40B4-BE49-F238E27FC236}">
                <a16:creationId xmlns:a16="http://schemas.microsoft.com/office/drawing/2014/main" id="{59C33CED-ECA5-93F7-E1FA-EC2498EA4958}"/>
              </a:ext>
            </a:extLst>
          </p:cNvPr>
          <p:cNvSpPr txBox="1"/>
          <p:nvPr/>
        </p:nvSpPr>
        <p:spPr>
          <a:xfrm>
            <a:off x="7146413" y="4888186"/>
            <a:ext cx="23070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400" b="1" dirty="0">
                <a:solidFill>
                  <a:schemeClr val="bg1">
                    <a:lumMod val="85000"/>
                  </a:schemeClr>
                </a:solidFill>
              </a:rPr>
              <a:t>Fig2. Sensor de luminosidad 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3F15B090-4A91-04D9-97FC-07376B354AAB}"/>
              </a:ext>
            </a:extLst>
          </p:cNvPr>
          <p:cNvSpPr txBox="1"/>
          <p:nvPr/>
        </p:nvSpPr>
        <p:spPr>
          <a:xfrm>
            <a:off x="6724936" y="2357286"/>
            <a:ext cx="303255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b="1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Capsula de sensado del dispositivo Photic Measuring Airboat V1.0 contenedora del sensor de luminosidad </a:t>
            </a:r>
            <a:r>
              <a:rPr lang="es-ES" sz="1600" b="1" i="0" dirty="0">
                <a:solidFill>
                  <a:schemeClr val="bg1">
                    <a:lumMod val="85000"/>
                  </a:schemeClr>
                </a:solidFill>
                <a:effectLst/>
                <a:latin typeface="+mj-lt"/>
                <a:cs typeface="Arial" panose="020B0604020202020204" pitchFamily="34" charset="0"/>
              </a:rPr>
              <a:t>BH1750FVI-ENCAP (fig2)  y un sensor de temperatura DS18B20-Sonda (fig3)</a:t>
            </a:r>
            <a:endParaRPr lang="es-CO" sz="1600" b="1" dirty="0">
              <a:solidFill>
                <a:schemeClr val="bg1">
                  <a:lumMod val="85000"/>
                </a:schemeClr>
              </a:solidFill>
              <a:latin typeface="+mj-lt"/>
            </a:endParaRP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834CB3C6-F964-1325-095F-AFED7E3B7D60}"/>
              </a:ext>
            </a:extLst>
          </p:cNvPr>
          <p:cNvSpPr txBox="1"/>
          <p:nvPr/>
        </p:nvSpPr>
        <p:spPr>
          <a:xfrm>
            <a:off x="7067496" y="1835352"/>
            <a:ext cx="20849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400" dirty="0">
                <a:solidFill>
                  <a:schemeClr val="bg1">
                    <a:lumMod val="85000"/>
                  </a:schemeClr>
                </a:solidFill>
              </a:rPr>
              <a:t>Fig1. Capsula de sensado 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F27F0310-5FCB-D8D6-4B55-7C212DE82D0A}"/>
              </a:ext>
            </a:extLst>
          </p:cNvPr>
          <p:cNvSpPr txBox="1"/>
          <p:nvPr/>
        </p:nvSpPr>
        <p:spPr>
          <a:xfrm>
            <a:off x="7089553" y="6155894"/>
            <a:ext cx="2320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400" b="1" dirty="0">
                <a:solidFill>
                  <a:schemeClr val="bg1">
                    <a:lumMod val="85000"/>
                  </a:schemeClr>
                </a:solidFill>
              </a:rPr>
              <a:t>Fig3. Sensor de temperatura </a:t>
            </a:r>
          </a:p>
        </p:txBody>
      </p:sp>
    </p:spTree>
    <p:extLst>
      <p:ext uri="{BB962C8B-B14F-4D97-AF65-F5344CB8AC3E}">
        <p14:creationId xmlns:p14="http://schemas.microsoft.com/office/powerpoint/2010/main" val="23669208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93876338-B7ED-0D22-FD2A-A5A8455195E8}"/>
              </a:ext>
            </a:extLst>
          </p:cNvPr>
          <p:cNvSpPr/>
          <p:nvPr/>
        </p:nvSpPr>
        <p:spPr>
          <a:xfrm>
            <a:off x="0" y="0"/>
            <a:ext cx="3312000" cy="6858000"/>
          </a:xfrm>
          <a:prstGeom prst="rect">
            <a:avLst/>
          </a:prstGeom>
          <a:gradFill flip="none" rotWithShape="1">
            <a:gsLst>
              <a:gs pos="11000">
                <a:schemeClr val="bg1">
                  <a:lumMod val="85000"/>
                </a:schemeClr>
              </a:gs>
              <a:gs pos="7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52166A7-CAA8-987E-5B9E-D2BF434CD83D}"/>
              </a:ext>
            </a:extLst>
          </p:cNvPr>
          <p:cNvSpPr/>
          <p:nvPr/>
        </p:nvSpPr>
        <p:spPr>
          <a:xfrm>
            <a:off x="3312000" y="0"/>
            <a:ext cx="3282000" cy="6858000"/>
          </a:xfrm>
          <a:prstGeom prst="rect">
            <a:avLst/>
          </a:prstGeom>
          <a:gradFill flip="none" rotWithShape="1">
            <a:gsLst>
              <a:gs pos="39000">
                <a:schemeClr val="accent1">
                  <a:lumMod val="45000"/>
                  <a:lumOff val="55000"/>
                </a:schemeClr>
              </a:gs>
              <a:gs pos="100000">
                <a:schemeClr val="bg2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6A50DE7-5EAE-4BE8-C373-79236E81A7D2}"/>
              </a:ext>
            </a:extLst>
          </p:cNvPr>
          <p:cNvSpPr/>
          <p:nvPr/>
        </p:nvSpPr>
        <p:spPr>
          <a:xfrm>
            <a:off x="6593996" y="0"/>
            <a:ext cx="3312003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9" name="Flecha: pentágono 8">
            <a:extLst>
              <a:ext uri="{FF2B5EF4-FFF2-40B4-BE49-F238E27FC236}">
                <a16:creationId xmlns:a16="http://schemas.microsoft.com/office/drawing/2014/main" id="{8F359A77-1D5A-4A4A-EA13-8A50AAA9505E}"/>
              </a:ext>
            </a:extLst>
          </p:cNvPr>
          <p:cNvSpPr/>
          <p:nvPr/>
        </p:nvSpPr>
        <p:spPr>
          <a:xfrm rot="5400000">
            <a:off x="1885138" y="-1882735"/>
            <a:ext cx="2826124" cy="6591600"/>
          </a:xfrm>
          <a:prstGeom prst="homePlate">
            <a:avLst/>
          </a:prstGeom>
          <a:solidFill>
            <a:srgbClr val="B2B2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8D94B46F-7E35-CBCF-6C94-BAA4CC13DC33}"/>
              </a:ext>
            </a:extLst>
          </p:cNvPr>
          <p:cNvSpPr/>
          <p:nvPr/>
        </p:nvSpPr>
        <p:spPr>
          <a:xfrm>
            <a:off x="2712387" y="0"/>
            <a:ext cx="604325" cy="6867625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tx1">
                  <a:alpha val="23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6" name="Triángulo rectángulo 35">
            <a:extLst>
              <a:ext uri="{FF2B5EF4-FFF2-40B4-BE49-F238E27FC236}">
                <a16:creationId xmlns:a16="http://schemas.microsoft.com/office/drawing/2014/main" id="{CC4FF4E2-CAB8-6A0C-62A0-D3E5C503537E}"/>
              </a:ext>
            </a:extLst>
          </p:cNvPr>
          <p:cNvSpPr/>
          <p:nvPr/>
        </p:nvSpPr>
        <p:spPr>
          <a:xfrm rot="16200000">
            <a:off x="7972264" y="4933888"/>
            <a:ext cx="543024" cy="3324448"/>
          </a:xfrm>
          <a:prstGeom prst="rtTriangle">
            <a:avLst/>
          </a:prstGeom>
          <a:solidFill>
            <a:srgbClr val="B2B2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9798E05B-A858-DFEB-2448-5F32ABB002D8}"/>
              </a:ext>
            </a:extLst>
          </p:cNvPr>
          <p:cNvSpPr/>
          <p:nvPr/>
        </p:nvSpPr>
        <p:spPr>
          <a:xfrm>
            <a:off x="6604770" y="9625"/>
            <a:ext cx="604325" cy="6857999"/>
          </a:xfrm>
          <a:prstGeom prst="rect">
            <a:avLst/>
          </a:prstGeom>
          <a:gradFill flip="none" rotWithShape="1">
            <a:gsLst>
              <a:gs pos="0">
                <a:srgbClr val="333F50">
                  <a:alpha val="0"/>
                </a:srgbClr>
              </a:gs>
              <a:gs pos="100000">
                <a:schemeClr val="tx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aphicFrame>
        <p:nvGraphicFramePr>
          <p:cNvPr id="23" name="Tabla 11">
            <a:extLst>
              <a:ext uri="{FF2B5EF4-FFF2-40B4-BE49-F238E27FC236}">
                <a16:creationId xmlns:a16="http://schemas.microsoft.com/office/drawing/2014/main" id="{548A5F53-B46D-A554-443A-37E564B825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9459951"/>
              </p:ext>
            </p:extLst>
          </p:nvPr>
        </p:nvGraphicFramePr>
        <p:xfrm>
          <a:off x="741437" y="1076309"/>
          <a:ext cx="4265615" cy="539496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2399395">
                  <a:extLst>
                    <a:ext uri="{9D8B030D-6E8A-4147-A177-3AD203B41FA5}">
                      <a16:colId xmlns:a16="http://schemas.microsoft.com/office/drawing/2014/main" val="3004466986"/>
                    </a:ext>
                  </a:extLst>
                </a:gridCol>
                <a:gridCol w="1866220">
                  <a:extLst>
                    <a:ext uri="{9D8B030D-6E8A-4147-A177-3AD203B41FA5}">
                      <a16:colId xmlns:a16="http://schemas.microsoft.com/office/drawing/2014/main" val="2498720184"/>
                    </a:ext>
                  </a:extLst>
                </a:gridCol>
              </a:tblGrid>
              <a:tr h="337020"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Especificación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Valor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1043098"/>
                  </a:ext>
                </a:extLst>
              </a:tr>
              <a:tr h="337020">
                <a:tc>
                  <a:txBody>
                    <a:bodyPr/>
                    <a:lstStyle/>
                    <a:p>
                      <a:r>
                        <a:rPr lang="es-CO" dirty="0"/>
                        <a:t>Operabilidad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Aplicativo remoto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5059324"/>
                  </a:ext>
                </a:extLst>
              </a:tr>
              <a:tr h="589786">
                <a:tc>
                  <a:txBody>
                    <a:bodyPr/>
                    <a:lstStyle/>
                    <a:p>
                      <a:r>
                        <a:rPr lang="es-CO" dirty="0"/>
                        <a:t>Dimensiones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341*220*141 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0594861"/>
                  </a:ext>
                </a:extLst>
              </a:tr>
              <a:tr h="337020">
                <a:tc>
                  <a:txBody>
                    <a:bodyPr/>
                    <a:lstStyle/>
                    <a:p>
                      <a:r>
                        <a:rPr lang="es-CO" dirty="0"/>
                        <a:t>Rango de luz visible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400 a 700 nm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9866631"/>
                  </a:ext>
                </a:extLst>
              </a:tr>
              <a:tr h="589786">
                <a:tc>
                  <a:txBody>
                    <a:bodyPr/>
                    <a:lstStyle/>
                    <a:p>
                      <a:r>
                        <a:rPr lang="es-CO" dirty="0"/>
                        <a:t>Rango de medición sensor temperatura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Entre 10 y 29 °C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9320865"/>
                  </a:ext>
                </a:extLst>
              </a:tr>
              <a:tr h="589786">
                <a:tc>
                  <a:txBody>
                    <a:bodyPr/>
                    <a:lstStyle/>
                    <a:p>
                      <a:r>
                        <a:rPr lang="es-CO" dirty="0"/>
                        <a:t>Precisión en la toma de datos de luminosidad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0,01 Lux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3569707"/>
                  </a:ext>
                </a:extLst>
              </a:tr>
              <a:tr h="589786">
                <a:tc>
                  <a:txBody>
                    <a:bodyPr/>
                    <a:lstStyle/>
                    <a:p>
                      <a:r>
                        <a:rPr lang="es-CO" dirty="0"/>
                        <a:t>Precisión en la toma de datos de temperatura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0,1 °C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542137"/>
                  </a:ext>
                </a:extLst>
              </a:tr>
              <a:tr h="337020">
                <a:tc>
                  <a:txBody>
                    <a:bodyPr/>
                    <a:lstStyle/>
                    <a:p>
                      <a:r>
                        <a:rPr lang="es-CO" dirty="0"/>
                        <a:t>Profundidad máxima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3 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8088127"/>
                  </a:ext>
                </a:extLst>
              </a:tr>
              <a:tr h="337020">
                <a:tc>
                  <a:txBody>
                    <a:bodyPr/>
                    <a:lstStyle/>
                    <a:p>
                      <a:r>
                        <a:rPr lang="es-CO" dirty="0"/>
                        <a:t>Alcance del prototipo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100 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5593169"/>
                  </a:ext>
                </a:extLst>
              </a:tr>
              <a:tr h="337020">
                <a:tc>
                  <a:txBody>
                    <a:bodyPr/>
                    <a:lstStyle/>
                    <a:p>
                      <a:r>
                        <a:rPr lang="es-CO" dirty="0"/>
                        <a:t>Adquisición de datos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Automatizada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6105843"/>
                  </a:ext>
                </a:extLst>
              </a:tr>
              <a:tr h="589786">
                <a:tc>
                  <a:txBody>
                    <a:bodyPr/>
                    <a:lstStyle/>
                    <a:p>
                      <a:r>
                        <a:rPr lang="es-CO" dirty="0"/>
                        <a:t>Periodicidad en la recolección de datos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1 cm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8608098"/>
                  </a:ext>
                </a:extLst>
              </a:tr>
            </a:tbl>
          </a:graphicData>
        </a:graphic>
      </p:graphicFrame>
      <p:graphicFrame>
        <p:nvGraphicFramePr>
          <p:cNvPr id="24" name="Tabla 11">
            <a:extLst>
              <a:ext uri="{FF2B5EF4-FFF2-40B4-BE49-F238E27FC236}">
                <a16:creationId xmlns:a16="http://schemas.microsoft.com/office/drawing/2014/main" id="{1240F64E-013A-7E19-39F6-E65FEDA89A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9328256"/>
              </p:ext>
            </p:extLst>
          </p:nvPr>
        </p:nvGraphicFramePr>
        <p:xfrm>
          <a:off x="5248443" y="1076309"/>
          <a:ext cx="4265615" cy="2458739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2399395">
                  <a:extLst>
                    <a:ext uri="{9D8B030D-6E8A-4147-A177-3AD203B41FA5}">
                      <a16:colId xmlns:a16="http://schemas.microsoft.com/office/drawing/2014/main" val="3004466986"/>
                    </a:ext>
                  </a:extLst>
                </a:gridCol>
                <a:gridCol w="1866220">
                  <a:extLst>
                    <a:ext uri="{9D8B030D-6E8A-4147-A177-3AD203B41FA5}">
                      <a16:colId xmlns:a16="http://schemas.microsoft.com/office/drawing/2014/main" val="2498720184"/>
                    </a:ext>
                  </a:extLst>
                </a:gridCol>
              </a:tblGrid>
              <a:tr h="380271"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Especificación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Valor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1043098"/>
                  </a:ext>
                </a:extLst>
              </a:tr>
              <a:tr h="380271">
                <a:tc>
                  <a:txBody>
                    <a:bodyPr/>
                    <a:lstStyle/>
                    <a:p>
                      <a:r>
                        <a:rPr lang="es-CO" dirty="0"/>
                        <a:t>Tipo de la batería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Tipo Lipo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5904797"/>
                  </a:ext>
                </a:extLst>
              </a:tr>
              <a:tr h="380271">
                <a:tc>
                  <a:txBody>
                    <a:bodyPr/>
                    <a:lstStyle/>
                    <a:p>
                      <a:r>
                        <a:rPr lang="es-CO" dirty="0"/>
                        <a:t>Peso aproximado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2 Kg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5816770"/>
                  </a:ext>
                </a:extLst>
              </a:tr>
              <a:tr h="937655">
                <a:tc>
                  <a:txBody>
                    <a:bodyPr/>
                    <a:lstStyle/>
                    <a:p>
                      <a:r>
                        <a:rPr lang="es-CO" dirty="0"/>
                        <a:t>Sistema de recuperación del bote (Nylon)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100 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352315"/>
                  </a:ext>
                </a:extLst>
              </a:tr>
              <a:tr h="380271">
                <a:tc>
                  <a:txBody>
                    <a:bodyPr/>
                    <a:lstStyle/>
                    <a:p>
                      <a:r>
                        <a:rPr lang="es-CO" dirty="0"/>
                        <a:t>Potencia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19,61 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469721"/>
                  </a:ext>
                </a:extLst>
              </a:tr>
            </a:tbl>
          </a:graphicData>
        </a:graphic>
      </p:graphicFrame>
      <p:sp>
        <p:nvSpPr>
          <p:cNvPr id="25" name="CuadroTexto 24">
            <a:extLst>
              <a:ext uri="{FF2B5EF4-FFF2-40B4-BE49-F238E27FC236}">
                <a16:creationId xmlns:a16="http://schemas.microsoft.com/office/drawing/2014/main" id="{2D3C6E0D-626B-326A-A23A-E58E2CC53A99}"/>
              </a:ext>
            </a:extLst>
          </p:cNvPr>
          <p:cNvSpPr txBox="1"/>
          <p:nvPr/>
        </p:nvSpPr>
        <p:spPr>
          <a:xfrm>
            <a:off x="2960233" y="407584"/>
            <a:ext cx="38736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b="1" dirty="0">
                <a:solidFill>
                  <a:srgbClr val="333F50"/>
                </a:solidFill>
                <a:latin typeface="Century Gothic" panose="020B0502020202020204" pitchFamily="34" charset="0"/>
              </a:rPr>
              <a:t>Especificaciones</a:t>
            </a: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5071798C-3986-093F-B1B1-66DA23BAF555}"/>
              </a:ext>
            </a:extLst>
          </p:cNvPr>
          <p:cNvSpPr/>
          <p:nvPr/>
        </p:nvSpPr>
        <p:spPr>
          <a:xfrm>
            <a:off x="9083439" y="6065904"/>
            <a:ext cx="787845" cy="724288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147801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93876338-B7ED-0D22-FD2A-A5A8455195E8}"/>
              </a:ext>
            </a:extLst>
          </p:cNvPr>
          <p:cNvSpPr/>
          <p:nvPr/>
        </p:nvSpPr>
        <p:spPr>
          <a:xfrm>
            <a:off x="0" y="0"/>
            <a:ext cx="3312000" cy="6858000"/>
          </a:xfrm>
          <a:prstGeom prst="rect">
            <a:avLst/>
          </a:prstGeom>
          <a:gradFill flip="none" rotWithShape="1">
            <a:gsLst>
              <a:gs pos="11000">
                <a:schemeClr val="bg1">
                  <a:lumMod val="85000"/>
                </a:schemeClr>
              </a:gs>
              <a:gs pos="7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52166A7-CAA8-987E-5B9E-D2BF434CD83D}"/>
              </a:ext>
            </a:extLst>
          </p:cNvPr>
          <p:cNvSpPr/>
          <p:nvPr/>
        </p:nvSpPr>
        <p:spPr>
          <a:xfrm>
            <a:off x="3312000" y="0"/>
            <a:ext cx="3282000" cy="6858000"/>
          </a:xfrm>
          <a:prstGeom prst="rect">
            <a:avLst/>
          </a:prstGeom>
          <a:gradFill flip="none" rotWithShape="1">
            <a:gsLst>
              <a:gs pos="39000">
                <a:schemeClr val="accent1">
                  <a:lumMod val="45000"/>
                  <a:lumOff val="55000"/>
                </a:schemeClr>
              </a:gs>
              <a:gs pos="100000">
                <a:schemeClr val="bg2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6A50DE7-5EAE-4BE8-C373-79236E81A7D2}"/>
              </a:ext>
            </a:extLst>
          </p:cNvPr>
          <p:cNvSpPr/>
          <p:nvPr/>
        </p:nvSpPr>
        <p:spPr>
          <a:xfrm>
            <a:off x="6593996" y="0"/>
            <a:ext cx="3312003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9" name="Flecha: pentágono 8">
            <a:extLst>
              <a:ext uri="{FF2B5EF4-FFF2-40B4-BE49-F238E27FC236}">
                <a16:creationId xmlns:a16="http://schemas.microsoft.com/office/drawing/2014/main" id="{8F359A77-1D5A-4A4A-EA13-8A50AAA9505E}"/>
              </a:ext>
            </a:extLst>
          </p:cNvPr>
          <p:cNvSpPr/>
          <p:nvPr/>
        </p:nvSpPr>
        <p:spPr>
          <a:xfrm rot="5400000">
            <a:off x="1885138" y="-1882735"/>
            <a:ext cx="2826124" cy="6591600"/>
          </a:xfrm>
          <a:prstGeom prst="homePlate">
            <a:avLst/>
          </a:prstGeom>
          <a:solidFill>
            <a:srgbClr val="B2B2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8D94B46F-7E35-CBCF-6C94-BAA4CC13DC33}"/>
              </a:ext>
            </a:extLst>
          </p:cNvPr>
          <p:cNvSpPr/>
          <p:nvPr/>
        </p:nvSpPr>
        <p:spPr>
          <a:xfrm>
            <a:off x="2712387" y="0"/>
            <a:ext cx="604325" cy="6867625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tx1">
                  <a:alpha val="23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6" name="Triángulo rectángulo 35">
            <a:extLst>
              <a:ext uri="{FF2B5EF4-FFF2-40B4-BE49-F238E27FC236}">
                <a16:creationId xmlns:a16="http://schemas.microsoft.com/office/drawing/2014/main" id="{CC4FF4E2-CAB8-6A0C-62A0-D3E5C503537E}"/>
              </a:ext>
            </a:extLst>
          </p:cNvPr>
          <p:cNvSpPr/>
          <p:nvPr/>
        </p:nvSpPr>
        <p:spPr>
          <a:xfrm rot="16200000">
            <a:off x="7972264" y="4933888"/>
            <a:ext cx="543024" cy="3324448"/>
          </a:xfrm>
          <a:prstGeom prst="rtTriangle">
            <a:avLst/>
          </a:prstGeom>
          <a:solidFill>
            <a:srgbClr val="B2B2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9798E05B-A858-DFEB-2448-5F32ABB002D8}"/>
              </a:ext>
            </a:extLst>
          </p:cNvPr>
          <p:cNvSpPr/>
          <p:nvPr/>
        </p:nvSpPr>
        <p:spPr>
          <a:xfrm>
            <a:off x="6604770" y="9625"/>
            <a:ext cx="604325" cy="6857999"/>
          </a:xfrm>
          <a:prstGeom prst="rect">
            <a:avLst/>
          </a:prstGeom>
          <a:gradFill flip="none" rotWithShape="1">
            <a:gsLst>
              <a:gs pos="0">
                <a:srgbClr val="333F50">
                  <a:alpha val="0"/>
                </a:srgbClr>
              </a:gs>
              <a:gs pos="100000">
                <a:schemeClr val="tx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5071798C-3986-093F-B1B1-66DA23BAF555}"/>
              </a:ext>
            </a:extLst>
          </p:cNvPr>
          <p:cNvSpPr/>
          <p:nvPr/>
        </p:nvSpPr>
        <p:spPr>
          <a:xfrm>
            <a:off x="9083439" y="6065904"/>
            <a:ext cx="787845" cy="724288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2CC799F0-340C-FC98-3AC5-7CB70842D2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9223" y="322452"/>
            <a:ext cx="7567553" cy="2295324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36AE5080-2510-CAC5-DBAD-B260D3B344CA}"/>
              </a:ext>
            </a:extLst>
          </p:cNvPr>
          <p:cNvSpPr txBox="1"/>
          <p:nvPr/>
        </p:nvSpPr>
        <p:spPr>
          <a:xfrm>
            <a:off x="1169223" y="2635781"/>
            <a:ext cx="50470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400" b="1" dirty="0">
                <a:solidFill>
                  <a:srgbClr val="002060"/>
                </a:solidFill>
              </a:rPr>
              <a:t>Fig4. Vista lateral y vista frontal de Photic Measuring Airboat V.10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DB2254E0-C5D5-3BC9-71E6-4C58D5FF95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8218" y="3084822"/>
            <a:ext cx="3909563" cy="3144527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68C8F148-0861-3AD5-A25B-B17BC4E0FF23}"/>
              </a:ext>
            </a:extLst>
          </p:cNvPr>
          <p:cNvSpPr txBox="1"/>
          <p:nvPr/>
        </p:nvSpPr>
        <p:spPr>
          <a:xfrm>
            <a:off x="2998218" y="6227771"/>
            <a:ext cx="33694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400" b="1" dirty="0">
                <a:solidFill>
                  <a:srgbClr val="002060"/>
                </a:solidFill>
              </a:rPr>
              <a:t>Fig5. CAD Photic Measuring Airboat V.10</a:t>
            </a:r>
          </a:p>
        </p:txBody>
      </p:sp>
    </p:spTree>
    <p:extLst>
      <p:ext uri="{BB962C8B-B14F-4D97-AF65-F5344CB8AC3E}">
        <p14:creationId xmlns:p14="http://schemas.microsoft.com/office/powerpoint/2010/main" val="7949253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g"/></Relationships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blipFill>
          <a:blip xmlns:r="http://schemas.openxmlformats.org/officeDocument/2006/relationships" r:embed="rId1"/>
          <a:stretch>
            <a:fillRect/>
          </a:stretch>
        </a:blipFill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397</TotalTime>
  <Words>256</Words>
  <Application>Microsoft Office PowerPoint</Application>
  <PresentationFormat>A4 (210 x 297 mm)</PresentationFormat>
  <Paragraphs>45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Century Gothic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Ana María</dc:creator>
  <cp:lastModifiedBy>Ana María</cp:lastModifiedBy>
  <cp:revision>88</cp:revision>
  <dcterms:created xsi:type="dcterms:W3CDTF">2022-05-01T22:32:50Z</dcterms:created>
  <dcterms:modified xsi:type="dcterms:W3CDTF">2022-05-02T05:10:48Z</dcterms:modified>
</cp:coreProperties>
</file>